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  <p:sldId id="261" r:id="rId7"/>
    <p:sldId id="262" r:id="rId8"/>
    <p:sldId id="263" r:id="rId9"/>
    <p:sldId id="265" r:id="rId10"/>
    <p:sldId id="266" r:id="rId11"/>
    <p:sldId id="268" r:id="rId12"/>
    <p:sldId id="267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1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hyperlink" Target="https://github.com/tsinghua-fib-lab/World-Model/blob/main/asset/roadma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Relationship Id="rId3" Type="http://schemas.openxmlformats.org/officeDocument/2006/relationships/image" Target="../media/image3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Relationship Id="rId3" Type="http://schemas.openxmlformats.org/officeDocument/2006/relationships/image" Target="../media/image4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8.xml"/><Relationship Id="rId4" Type="http://schemas.openxmlformats.org/officeDocument/2006/relationships/hyperlink" Target="https://moe-capital.com/blog-home/the-model-that-dreams-the-world" TargetMode="External"/><Relationship Id="rId3" Type="http://schemas.openxmlformats.org/officeDocument/2006/relationships/hyperlink" Target="https://x.com/drfeifei/status/2062247238143996275" TargetMode="Externa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80135" y="914400"/>
            <a:ext cx="10600690" cy="2570480"/>
          </a:xfrm>
        </p:spPr>
        <p:txBody>
          <a:bodyPr/>
          <a:p>
            <a:pPr algn="ctr"/>
            <a:r>
              <a:rPr lang="zh-CN" altLang="zh-CN"/>
              <a:t>世界模型调研总结（</a:t>
            </a:r>
            <a:r>
              <a:rPr lang="en-US" altLang="zh-CN"/>
              <a:t>7.31-8.7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——</a:t>
            </a:r>
            <a:r>
              <a:rPr lang="zh-CN" altLang="en-US"/>
              <a:t>计算机系</a:t>
            </a:r>
            <a:r>
              <a:rPr lang="en-US" altLang="zh-CN"/>
              <a:t> </a:t>
            </a:r>
            <a:r>
              <a:rPr lang="zh-CN" altLang="en-US"/>
              <a:t>大一</a:t>
            </a:r>
            <a:r>
              <a:rPr lang="en-US" altLang="zh-CN"/>
              <a:t> </a:t>
            </a:r>
            <a:r>
              <a:rPr lang="zh-CN" altLang="en-US"/>
              <a:t>王关栋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Structure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stru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345" y="1490345"/>
            <a:ext cx="8147050" cy="48571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Roadmap</a:t>
            </a:r>
            <a:endParaRPr lang="en-US" altLang="zh-CN"/>
          </a:p>
        </p:txBody>
      </p:sp>
      <p:pic>
        <p:nvPicPr>
          <p:cNvPr id="4" name="内容占位符 3" descr="roadmap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50265" y="1490345"/>
            <a:ext cx="10484485" cy="47593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4975" y="6447155"/>
            <a:ext cx="108997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hlinkClick r:id="rId4" action="ppaction://hlinkfile"/>
              </a:rPr>
              <a:t>https://github.com/tsinghua-fib-lab/World-Model/blob/main/asset/roadmap.png</a:t>
            </a:r>
            <a:r>
              <a:rPr lang="en-US" altLang="zh-CN" sz="1600"/>
              <a:t>, </a:t>
            </a:r>
            <a:r>
              <a:rPr lang="en-US" altLang="zh-CN" sz="1600"/>
              <a:t>arXiv:2411.14499 [cs.CL]</a:t>
            </a:r>
            <a:endParaRPr lang="en-US" altLang="zh-CN" sz="1600"/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L</a:t>
            </a:r>
            <a:r>
              <a:rPr lang="en-US" altLang="zh-CN"/>
              <a:t>i Feifei’s Taxonomy</a:t>
            </a:r>
            <a:endParaRPr lang="en-US" altLang="zh-CN"/>
          </a:p>
        </p:txBody>
      </p:sp>
      <p:cxnSp>
        <p:nvCxnSpPr>
          <p:cNvPr id="104" name="直接连接符 103"/>
          <p:cNvCxnSpPr/>
          <p:nvPr>
            <p:custDataLst>
              <p:tags r:id="rId2"/>
            </p:custDataLst>
          </p:nvPr>
        </p:nvCxnSpPr>
        <p:spPr>
          <a:xfrm>
            <a:off x="3281046" y="4438968"/>
            <a:ext cx="5522595" cy="17145"/>
          </a:xfrm>
          <a:prstGeom prst="line">
            <a:avLst/>
          </a:prstGeom>
          <a:ln>
            <a:solidFill>
              <a:srgbClr val="000000">
                <a:lumMod val="65000"/>
                <a:lumOff val="35000"/>
                <a:alpha val="50000"/>
              </a:srgb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03" name="直接连接符 102"/>
          <p:cNvCxnSpPr/>
          <p:nvPr>
            <p:custDataLst>
              <p:tags r:id="rId3"/>
            </p:custDataLst>
          </p:nvPr>
        </p:nvCxnSpPr>
        <p:spPr>
          <a:xfrm flipV="1">
            <a:off x="3281046" y="3125153"/>
            <a:ext cx="5381625" cy="3175"/>
          </a:xfrm>
          <a:prstGeom prst="line">
            <a:avLst/>
          </a:prstGeom>
          <a:ln>
            <a:solidFill>
              <a:srgbClr val="000000">
                <a:lumMod val="65000"/>
                <a:lumOff val="35000"/>
                <a:alpha val="50000"/>
              </a:srgb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05" name="直接连接符 104"/>
          <p:cNvCxnSpPr/>
          <p:nvPr>
            <p:custDataLst>
              <p:tags r:id="rId4"/>
            </p:custDataLst>
          </p:nvPr>
        </p:nvCxnSpPr>
        <p:spPr>
          <a:xfrm>
            <a:off x="3281046" y="5757863"/>
            <a:ext cx="6410325" cy="26035"/>
          </a:xfrm>
          <a:prstGeom prst="line">
            <a:avLst/>
          </a:prstGeom>
          <a:ln>
            <a:solidFill>
              <a:srgbClr val="000000">
                <a:lumMod val="65000"/>
                <a:lumOff val="35000"/>
                <a:alpha val="50000"/>
              </a:srgb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5409566" y="4918393"/>
            <a:ext cx="2028825" cy="7175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C000"/>
                </a:solidFill>
                <a:latin typeface="微软雅黑" panose="020B0503020204020204" charset="-122"/>
                <a:cs typeface="微软雅黑" panose="020B0503020204020204" charset="-122"/>
              </a:rPr>
              <a:t>planner</a:t>
            </a:r>
            <a:endParaRPr lang="en-US" altLang="zh-CN" sz="2400" b="1">
              <a:solidFill>
                <a:srgbClr val="FFC000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7722871" y="4901883"/>
            <a:ext cx="3425587" cy="717358"/>
          </a:xfrm>
          <a:prstGeom prst="rect">
            <a:avLst/>
          </a:prstGeom>
          <a:noFill/>
        </p:spPr>
        <p:txBody>
          <a:bodyPr wrap="square" lIns="0" tIns="0" rIns="0" bIns="36195" rtlCol="0" anchor="ctr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n>
                  <a:noFill/>
                  <a:prstDash val="sysDot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output actions</a:t>
            </a:r>
            <a:endParaRPr lang="en-US" altLang="zh-CN" sz="2000" b="1">
              <a:ln>
                <a:noFill/>
                <a:prstDash val="sysDot"/>
              </a:ln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任意多边形 69"/>
          <p:cNvSpPr/>
          <p:nvPr>
            <p:custDataLst>
              <p:tags r:id="rId7"/>
            </p:custDataLst>
          </p:nvPr>
        </p:nvSpPr>
        <p:spPr>
          <a:xfrm rot="780000">
            <a:off x="2066926" y="3054668"/>
            <a:ext cx="1673447" cy="429662"/>
          </a:xfrm>
          <a:custGeom>
            <a:avLst/>
            <a:gdLst>
              <a:gd name="connsiteX0" fmla="*/ 0 w 2932"/>
              <a:gd name="connsiteY0" fmla="*/ 682 h 716"/>
              <a:gd name="connsiteX1" fmla="*/ 1366 w 2932"/>
              <a:gd name="connsiteY1" fmla="*/ 0 h 716"/>
              <a:gd name="connsiteX2" fmla="*/ 2932 w 2932"/>
              <a:gd name="connsiteY2" fmla="*/ 9 h 716"/>
              <a:gd name="connsiteX3" fmla="*/ 1573 w 2932"/>
              <a:gd name="connsiteY3" fmla="*/ 716 h 716"/>
              <a:gd name="connsiteX4" fmla="*/ 0 w 2932"/>
              <a:gd name="connsiteY4" fmla="*/ 682 h 716"/>
              <a:gd name="connsiteX0-1" fmla="*/ 0 w 10000"/>
              <a:gd name="connsiteY0-2" fmla="*/ 9525 h 10471"/>
              <a:gd name="connsiteX1-3" fmla="*/ 4659 w 10000"/>
              <a:gd name="connsiteY1-4" fmla="*/ 0 h 10471"/>
              <a:gd name="connsiteX2-5" fmla="*/ 10000 w 10000"/>
              <a:gd name="connsiteY2-6" fmla="*/ 126 h 10471"/>
              <a:gd name="connsiteX3-7" fmla="*/ 5226 w 10000"/>
              <a:gd name="connsiteY3-8" fmla="*/ 10471 h 10471"/>
              <a:gd name="connsiteX4-9" fmla="*/ 0 w 10000"/>
              <a:gd name="connsiteY4-10" fmla="*/ 9525 h 10471"/>
              <a:gd name="connsiteX0-11" fmla="*/ 0 w 10000"/>
              <a:gd name="connsiteY0-12" fmla="*/ 9399 h 10345"/>
              <a:gd name="connsiteX1-13" fmla="*/ 4741 w 10000"/>
              <a:gd name="connsiteY1-14" fmla="*/ 221 h 10345"/>
              <a:gd name="connsiteX2-15" fmla="*/ 10000 w 10000"/>
              <a:gd name="connsiteY2-16" fmla="*/ 0 h 10345"/>
              <a:gd name="connsiteX3-17" fmla="*/ 5226 w 10000"/>
              <a:gd name="connsiteY3-18" fmla="*/ 10345 h 10345"/>
              <a:gd name="connsiteX4-19" fmla="*/ 0 w 10000"/>
              <a:gd name="connsiteY4-20" fmla="*/ 9399 h 10345"/>
              <a:gd name="connsiteX0-21" fmla="*/ 0 w 9902"/>
              <a:gd name="connsiteY0-22" fmla="*/ 9306 h 10252"/>
              <a:gd name="connsiteX1-23" fmla="*/ 4741 w 9902"/>
              <a:gd name="connsiteY1-24" fmla="*/ 128 h 10252"/>
              <a:gd name="connsiteX2-25" fmla="*/ 9902 w 9902"/>
              <a:gd name="connsiteY2-26" fmla="*/ 0 h 10252"/>
              <a:gd name="connsiteX3-27" fmla="*/ 5226 w 9902"/>
              <a:gd name="connsiteY3-28" fmla="*/ 10252 h 10252"/>
              <a:gd name="connsiteX4-29" fmla="*/ 0 w 9902"/>
              <a:gd name="connsiteY4-30" fmla="*/ 9306 h 10252"/>
              <a:gd name="connsiteX0-31" fmla="*/ 0 w 10000"/>
              <a:gd name="connsiteY0-32" fmla="*/ 9077 h 10000"/>
              <a:gd name="connsiteX1-33" fmla="*/ 4695 w 10000"/>
              <a:gd name="connsiteY1-34" fmla="*/ 210 h 10000"/>
              <a:gd name="connsiteX2-35" fmla="*/ 10000 w 10000"/>
              <a:gd name="connsiteY2-36" fmla="*/ 0 h 10000"/>
              <a:gd name="connsiteX3-37" fmla="*/ 5278 w 10000"/>
              <a:gd name="connsiteY3-38" fmla="*/ 10000 h 10000"/>
              <a:gd name="connsiteX4-39" fmla="*/ 0 w 10000"/>
              <a:gd name="connsiteY4-40" fmla="*/ 9077 h 10000"/>
              <a:gd name="connsiteX0-41" fmla="*/ 0 w 10000"/>
              <a:gd name="connsiteY0-42" fmla="*/ 9077 h 10113"/>
              <a:gd name="connsiteX1-43" fmla="*/ 4695 w 10000"/>
              <a:gd name="connsiteY1-44" fmla="*/ 210 h 10113"/>
              <a:gd name="connsiteX2-45" fmla="*/ 10000 w 10000"/>
              <a:gd name="connsiteY2-46" fmla="*/ 0 h 10113"/>
              <a:gd name="connsiteX3-47" fmla="*/ 5366 w 10000"/>
              <a:gd name="connsiteY3-48" fmla="*/ 10113 h 10113"/>
              <a:gd name="connsiteX4-49" fmla="*/ 0 w 10000"/>
              <a:gd name="connsiteY4-50" fmla="*/ 9077 h 10113"/>
              <a:gd name="connsiteX0-51" fmla="*/ 0 w 10000"/>
              <a:gd name="connsiteY0-52" fmla="*/ 9077 h 10155"/>
              <a:gd name="connsiteX1-53" fmla="*/ 4695 w 10000"/>
              <a:gd name="connsiteY1-54" fmla="*/ 210 h 10155"/>
              <a:gd name="connsiteX2-55" fmla="*/ 10000 w 10000"/>
              <a:gd name="connsiteY2-56" fmla="*/ 0 h 10155"/>
              <a:gd name="connsiteX3-57" fmla="*/ 5320 w 10000"/>
              <a:gd name="connsiteY3-58" fmla="*/ 10155 h 10155"/>
              <a:gd name="connsiteX4-59" fmla="*/ 0 w 10000"/>
              <a:gd name="connsiteY4-60" fmla="*/ 9077 h 101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155">
                <a:moveTo>
                  <a:pt x="0" y="9077"/>
                </a:moveTo>
                <a:lnTo>
                  <a:pt x="4695" y="210"/>
                </a:lnTo>
                <a:lnTo>
                  <a:pt x="10000" y="0"/>
                </a:lnTo>
                <a:lnTo>
                  <a:pt x="5320" y="10155"/>
                </a:lnTo>
                <a:lnTo>
                  <a:pt x="0" y="9077"/>
                </a:lnTo>
                <a:close/>
              </a:path>
            </a:pathLst>
          </a:custGeom>
          <a:solidFill>
            <a:srgbClr val="17D594">
              <a:lumMod val="75000"/>
            </a:srgbClr>
          </a:soli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任意多边形 72"/>
          <p:cNvSpPr/>
          <p:nvPr>
            <p:custDataLst>
              <p:tags r:id="rId8"/>
            </p:custDataLst>
          </p:nvPr>
        </p:nvSpPr>
        <p:spPr>
          <a:xfrm rot="780000">
            <a:off x="1251586" y="4160203"/>
            <a:ext cx="3332456" cy="852477"/>
          </a:xfrm>
          <a:custGeom>
            <a:avLst/>
            <a:gdLst>
              <a:gd name="connsiteX0" fmla="*/ 0 w 5851"/>
              <a:gd name="connsiteY0" fmla="*/ 1374 h 1420"/>
              <a:gd name="connsiteX1" fmla="*/ 2688 w 5851"/>
              <a:gd name="connsiteY1" fmla="*/ 0 h 1420"/>
              <a:gd name="connsiteX2" fmla="*/ 5851 w 5851"/>
              <a:gd name="connsiteY2" fmla="*/ 24 h 1420"/>
              <a:gd name="connsiteX3" fmla="*/ 3100 w 5851"/>
              <a:gd name="connsiteY3" fmla="*/ 1420 h 1420"/>
              <a:gd name="connsiteX4" fmla="*/ 0 w 5851"/>
              <a:gd name="connsiteY4" fmla="*/ 1374 h 1420"/>
              <a:gd name="connsiteX0-1" fmla="*/ 0 w 9867"/>
              <a:gd name="connsiteY0-2" fmla="*/ 9676 h 10000"/>
              <a:gd name="connsiteX1-3" fmla="*/ 4594 w 9867"/>
              <a:gd name="connsiteY1-4" fmla="*/ 0 h 10000"/>
              <a:gd name="connsiteX2-5" fmla="*/ 9867 w 9867"/>
              <a:gd name="connsiteY2-6" fmla="*/ 216 h 10000"/>
              <a:gd name="connsiteX3-7" fmla="*/ 5298 w 9867"/>
              <a:gd name="connsiteY3-8" fmla="*/ 10000 h 10000"/>
              <a:gd name="connsiteX4-9" fmla="*/ 0 w 9867"/>
              <a:gd name="connsiteY4-10" fmla="*/ 9676 h 10000"/>
              <a:gd name="connsiteX0-11" fmla="*/ 0 w 10023"/>
              <a:gd name="connsiteY0-12" fmla="*/ 9676 h 10000"/>
              <a:gd name="connsiteX1-13" fmla="*/ 4656 w 10023"/>
              <a:gd name="connsiteY1-14" fmla="*/ 0 h 10000"/>
              <a:gd name="connsiteX2-15" fmla="*/ 10023 w 10023"/>
              <a:gd name="connsiteY2-16" fmla="*/ 275 h 10000"/>
              <a:gd name="connsiteX3-17" fmla="*/ 5369 w 10023"/>
              <a:gd name="connsiteY3-18" fmla="*/ 10000 h 10000"/>
              <a:gd name="connsiteX4-19" fmla="*/ 0 w 10023"/>
              <a:gd name="connsiteY4-20" fmla="*/ 9676 h 10000"/>
              <a:gd name="connsiteX0-21" fmla="*/ 0 w 10023"/>
              <a:gd name="connsiteY0-22" fmla="*/ 9676 h 10474"/>
              <a:gd name="connsiteX1-23" fmla="*/ 4656 w 10023"/>
              <a:gd name="connsiteY1-24" fmla="*/ 0 h 10474"/>
              <a:gd name="connsiteX2-25" fmla="*/ 10023 w 10023"/>
              <a:gd name="connsiteY2-26" fmla="*/ 275 h 10474"/>
              <a:gd name="connsiteX3-27" fmla="*/ 5337 w 10023"/>
              <a:gd name="connsiteY3-28" fmla="*/ 10474 h 10474"/>
              <a:gd name="connsiteX4-29" fmla="*/ 0 w 10023"/>
              <a:gd name="connsiteY4-30" fmla="*/ 9676 h 10474"/>
              <a:gd name="connsiteX0-31" fmla="*/ 0 w 10023"/>
              <a:gd name="connsiteY0-32" fmla="*/ 9756 h 10554"/>
              <a:gd name="connsiteX1-33" fmla="*/ 4740 w 10023"/>
              <a:gd name="connsiteY1-34" fmla="*/ 0 h 10554"/>
              <a:gd name="connsiteX2-35" fmla="*/ 10023 w 10023"/>
              <a:gd name="connsiteY2-36" fmla="*/ 355 h 10554"/>
              <a:gd name="connsiteX3-37" fmla="*/ 5337 w 10023"/>
              <a:gd name="connsiteY3-38" fmla="*/ 10554 h 10554"/>
              <a:gd name="connsiteX4-39" fmla="*/ 0 w 10023"/>
              <a:gd name="connsiteY4-40" fmla="*/ 9756 h 10554"/>
              <a:gd name="connsiteX0-41" fmla="*/ 0 w 10007"/>
              <a:gd name="connsiteY0-42" fmla="*/ 9756 h 10554"/>
              <a:gd name="connsiteX1-43" fmla="*/ 4740 w 10007"/>
              <a:gd name="connsiteY1-44" fmla="*/ 0 h 10554"/>
              <a:gd name="connsiteX2-45" fmla="*/ 10007 w 10007"/>
              <a:gd name="connsiteY2-46" fmla="*/ 249 h 10554"/>
              <a:gd name="connsiteX3-47" fmla="*/ 5337 w 10007"/>
              <a:gd name="connsiteY3-48" fmla="*/ 10554 h 10554"/>
              <a:gd name="connsiteX4-49" fmla="*/ 0 w 10007"/>
              <a:gd name="connsiteY4-50" fmla="*/ 9756 h 1055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7" h="10554">
                <a:moveTo>
                  <a:pt x="0" y="9756"/>
                </a:moveTo>
                <a:lnTo>
                  <a:pt x="4740" y="0"/>
                </a:lnTo>
                <a:lnTo>
                  <a:pt x="10007" y="249"/>
                </a:lnTo>
                <a:lnTo>
                  <a:pt x="5337" y="10554"/>
                </a:lnTo>
                <a:lnTo>
                  <a:pt x="0" y="9756"/>
                </a:lnTo>
                <a:close/>
              </a:path>
            </a:pathLst>
          </a:custGeom>
          <a:solidFill>
            <a:srgbClr val="FFC000">
              <a:lumMod val="75000"/>
            </a:srgbClr>
          </a:soli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01"/>
          <p:cNvSpPr/>
          <p:nvPr>
            <p:custDataLst>
              <p:tags r:id="rId9"/>
            </p:custDataLst>
          </p:nvPr>
        </p:nvSpPr>
        <p:spPr>
          <a:xfrm>
            <a:off x="2124711" y="1919923"/>
            <a:ext cx="791357" cy="1423101"/>
          </a:xfrm>
          <a:custGeom>
            <a:avLst/>
            <a:gdLst>
              <a:gd name="connsiteX0" fmla="*/ 788186 w 791357"/>
              <a:gd name="connsiteY0" fmla="*/ 0 h 1423101"/>
              <a:gd name="connsiteX1" fmla="*/ 791357 w 791357"/>
              <a:gd name="connsiteY1" fmla="*/ 5109 h 1423101"/>
              <a:gd name="connsiteX2" fmla="*/ 791357 w 791357"/>
              <a:gd name="connsiteY2" fmla="*/ 1423101 h 1423101"/>
              <a:gd name="connsiteX3" fmla="*/ 0 w 791357"/>
              <a:gd name="connsiteY3" fmla="*/ 1215155 h 142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1357" h="1423101">
                <a:moveTo>
                  <a:pt x="788186" y="0"/>
                </a:moveTo>
                <a:lnTo>
                  <a:pt x="791357" y="5109"/>
                </a:lnTo>
                <a:lnTo>
                  <a:pt x="791357" y="1423101"/>
                </a:lnTo>
                <a:lnTo>
                  <a:pt x="0" y="1215155"/>
                </a:lnTo>
                <a:close/>
              </a:path>
            </a:pathLst>
          </a:cu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85000">
                <a:srgbClr val="376FFF"/>
              </a:gs>
            </a:gsLst>
            <a:lin ang="8100000" scaled="0"/>
          </a:gra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none" lIns="288000" tIns="540000" rIns="0" bIns="0" numCol="1" spcCol="0" rtlCol="0" fromWordArt="0" anchor="ctr" anchorCtr="0" forceAA="0" compatLnSpc="1">
            <a:noAutofit/>
          </a:bodyPr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03"/>
          <p:cNvSpPr/>
          <p:nvPr>
            <p:custDataLst>
              <p:tags r:id="rId10"/>
            </p:custDataLst>
          </p:nvPr>
        </p:nvSpPr>
        <p:spPr>
          <a:xfrm>
            <a:off x="414656" y="4559618"/>
            <a:ext cx="2501124" cy="1868621"/>
          </a:xfrm>
          <a:custGeom>
            <a:avLst/>
            <a:gdLst>
              <a:gd name="connsiteX0" fmla="*/ 785748 w 2501124"/>
              <a:gd name="connsiteY0" fmla="*/ 0 h 1868621"/>
              <a:gd name="connsiteX1" fmla="*/ 2501124 w 2501124"/>
              <a:gd name="connsiteY1" fmla="*/ 450753 h 1868621"/>
              <a:gd name="connsiteX2" fmla="*/ 2501124 w 2501124"/>
              <a:gd name="connsiteY2" fmla="*/ 1868621 h 1868621"/>
              <a:gd name="connsiteX3" fmla="*/ 0 w 2501124"/>
              <a:gd name="connsiteY3" fmla="*/ 1211396 h 1868621"/>
              <a:gd name="connsiteX4" fmla="*/ 785748 w 2501124"/>
              <a:gd name="connsiteY4" fmla="*/ 0 h 186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1124" h="1868621">
                <a:moveTo>
                  <a:pt x="785748" y="0"/>
                </a:moveTo>
                <a:lnTo>
                  <a:pt x="2501124" y="450753"/>
                </a:lnTo>
                <a:lnTo>
                  <a:pt x="2501124" y="1868621"/>
                </a:lnTo>
                <a:lnTo>
                  <a:pt x="0" y="1211396"/>
                </a:lnTo>
                <a:lnTo>
                  <a:pt x="785748" y="0"/>
                </a:lnTo>
                <a:close/>
              </a:path>
            </a:pathLst>
          </a:custGeom>
          <a:gradFill>
            <a:gsLst>
              <a:gs pos="0">
                <a:srgbClr val="FFC000">
                  <a:lumMod val="60000"/>
                  <a:lumOff val="40000"/>
                </a:srgbClr>
              </a:gs>
              <a:gs pos="85000">
                <a:srgbClr val="FFC000"/>
              </a:gs>
            </a:gsLst>
            <a:lin ang="12000000" scaled="0"/>
          </a:gra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p>
            <a:pPr algn="ctr"/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02"/>
          <p:cNvSpPr/>
          <p:nvPr>
            <p:custDataLst>
              <p:tags r:id="rId11"/>
            </p:custDataLst>
          </p:nvPr>
        </p:nvSpPr>
        <p:spPr>
          <a:xfrm>
            <a:off x="1273175" y="3245803"/>
            <a:ext cx="1642490" cy="1633118"/>
          </a:xfrm>
          <a:custGeom>
            <a:avLst/>
            <a:gdLst>
              <a:gd name="connsiteX0" fmla="*/ 779341 w 1642490"/>
              <a:gd name="connsiteY0" fmla="*/ 0 h 1633118"/>
              <a:gd name="connsiteX1" fmla="*/ 1642490 w 1642490"/>
              <a:gd name="connsiteY1" fmla="*/ 226812 h 1633118"/>
              <a:gd name="connsiteX2" fmla="*/ 1642490 w 1642490"/>
              <a:gd name="connsiteY2" fmla="*/ 1633118 h 1633118"/>
              <a:gd name="connsiteX3" fmla="*/ 0 w 1642490"/>
              <a:gd name="connsiteY3" fmla="*/ 1201518 h 1633118"/>
              <a:gd name="connsiteX4" fmla="*/ 779341 w 1642490"/>
              <a:gd name="connsiteY4" fmla="*/ 0 h 1633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2490" h="1633118">
                <a:moveTo>
                  <a:pt x="779341" y="0"/>
                </a:moveTo>
                <a:lnTo>
                  <a:pt x="1642490" y="226812"/>
                </a:lnTo>
                <a:lnTo>
                  <a:pt x="1642490" y="1633118"/>
                </a:lnTo>
                <a:lnTo>
                  <a:pt x="0" y="1201518"/>
                </a:lnTo>
                <a:lnTo>
                  <a:pt x="779341" y="0"/>
                </a:lnTo>
                <a:close/>
              </a:path>
            </a:pathLst>
          </a:custGeom>
          <a:gradFill>
            <a:gsLst>
              <a:gs pos="0">
                <a:srgbClr val="17D594">
                  <a:lumMod val="60000"/>
                  <a:lumOff val="40000"/>
                </a:srgbClr>
              </a:gs>
              <a:gs pos="85000">
                <a:srgbClr val="17D594"/>
              </a:gs>
            </a:gsLst>
            <a:lin ang="12000000" scaled="0"/>
          </a:gra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p>
            <a:pPr algn="ctr"/>
            <a:r>
              <a:rPr lang="en-US" altLang="zh-CN" sz="2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altLang="en-US" sz="2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01"/>
          <p:cNvSpPr/>
          <p:nvPr>
            <p:custDataLst>
              <p:tags r:id="rId12"/>
            </p:custDataLst>
          </p:nvPr>
        </p:nvSpPr>
        <p:spPr>
          <a:xfrm flipH="1">
            <a:off x="2908936" y="1919923"/>
            <a:ext cx="791357" cy="1423101"/>
          </a:xfrm>
          <a:custGeom>
            <a:avLst/>
            <a:gdLst>
              <a:gd name="connsiteX0" fmla="*/ 788186 w 791357"/>
              <a:gd name="connsiteY0" fmla="*/ 0 h 1423101"/>
              <a:gd name="connsiteX1" fmla="*/ 791357 w 791357"/>
              <a:gd name="connsiteY1" fmla="*/ 5109 h 1423101"/>
              <a:gd name="connsiteX2" fmla="*/ 791357 w 791357"/>
              <a:gd name="connsiteY2" fmla="*/ 1423101 h 1423101"/>
              <a:gd name="connsiteX3" fmla="*/ 0 w 791357"/>
              <a:gd name="connsiteY3" fmla="*/ 1215155 h 142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1357" h="1423101">
                <a:moveTo>
                  <a:pt x="788186" y="0"/>
                </a:moveTo>
                <a:lnTo>
                  <a:pt x="791357" y="5109"/>
                </a:lnTo>
                <a:lnTo>
                  <a:pt x="791357" y="1423101"/>
                </a:lnTo>
                <a:lnTo>
                  <a:pt x="0" y="1215155"/>
                </a:lnTo>
                <a:close/>
              </a:path>
            </a:pathLst>
          </a:custGeom>
          <a:gradFill>
            <a:gsLst>
              <a:gs pos="0">
                <a:srgbClr val="376FFF">
                  <a:lumMod val="60000"/>
                  <a:lumOff val="40000"/>
                </a:srgbClr>
              </a:gs>
              <a:gs pos="85000">
                <a:srgbClr val="376FFF"/>
              </a:gs>
            </a:gsLst>
            <a:lin ang="3600000" scaled="0"/>
          </a:gra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tIns="323850" numCol="1" spcCol="0" rtlCol="0" fromWordArt="0" anchor="ctr" anchorCtr="0" forceAA="0" compatLnSpc="1">
            <a:noAutofit/>
          </a:bodyPr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03"/>
          <p:cNvSpPr/>
          <p:nvPr>
            <p:custDataLst>
              <p:tags r:id="rId13"/>
            </p:custDataLst>
          </p:nvPr>
        </p:nvSpPr>
        <p:spPr>
          <a:xfrm flipH="1">
            <a:off x="2908936" y="4559618"/>
            <a:ext cx="2501124" cy="1868621"/>
          </a:xfrm>
          <a:custGeom>
            <a:avLst/>
            <a:gdLst>
              <a:gd name="connsiteX0" fmla="*/ 785748 w 2501124"/>
              <a:gd name="connsiteY0" fmla="*/ 0 h 1868621"/>
              <a:gd name="connsiteX1" fmla="*/ 2501124 w 2501124"/>
              <a:gd name="connsiteY1" fmla="*/ 450753 h 1868621"/>
              <a:gd name="connsiteX2" fmla="*/ 2501124 w 2501124"/>
              <a:gd name="connsiteY2" fmla="*/ 1868621 h 1868621"/>
              <a:gd name="connsiteX3" fmla="*/ 0 w 2501124"/>
              <a:gd name="connsiteY3" fmla="*/ 1211396 h 1868621"/>
              <a:gd name="connsiteX4" fmla="*/ 785748 w 2501124"/>
              <a:gd name="connsiteY4" fmla="*/ 0 h 186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1124" h="1868621">
                <a:moveTo>
                  <a:pt x="785748" y="0"/>
                </a:moveTo>
                <a:lnTo>
                  <a:pt x="2501124" y="450753"/>
                </a:lnTo>
                <a:lnTo>
                  <a:pt x="2501124" y="1868621"/>
                </a:lnTo>
                <a:lnTo>
                  <a:pt x="0" y="1211396"/>
                </a:lnTo>
                <a:lnTo>
                  <a:pt x="785748" y="0"/>
                </a:lnTo>
                <a:close/>
              </a:path>
            </a:pathLst>
          </a:custGeom>
          <a:gradFill>
            <a:gsLst>
              <a:gs pos="0">
                <a:srgbClr val="FFC000">
                  <a:lumMod val="60000"/>
                  <a:lumOff val="40000"/>
                </a:srgbClr>
              </a:gs>
              <a:gs pos="85000">
                <a:srgbClr val="FFC000"/>
              </a:gs>
            </a:gsLst>
            <a:lin ang="3600000" scaled="0"/>
          </a:gra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02"/>
          <p:cNvSpPr/>
          <p:nvPr>
            <p:custDataLst>
              <p:tags r:id="rId14"/>
            </p:custDataLst>
          </p:nvPr>
        </p:nvSpPr>
        <p:spPr>
          <a:xfrm flipH="1">
            <a:off x="2908935" y="3245803"/>
            <a:ext cx="1642490" cy="1633118"/>
          </a:xfrm>
          <a:custGeom>
            <a:avLst/>
            <a:gdLst>
              <a:gd name="connsiteX0" fmla="*/ 779341 w 1642490"/>
              <a:gd name="connsiteY0" fmla="*/ 0 h 1633118"/>
              <a:gd name="connsiteX1" fmla="*/ 1642490 w 1642490"/>
              <a:gd name="connsiteY1" fmla="*/ 226812 h 1633118"/>
              <a:gd name="connsiteX2" fmla="*/ 1642490 w 1642490"/>
              <a:gd name="connsiteY2" fmla="*/ 1633118 h 1633118"/>
              <a:gd name="connsiteX3" fmla="*/ 0 w 1642490"/>
              <a:gd name="connsiteY3" fmla="*/ 1201518 h 1633118"/>
              <a:gd name="connsiteX4" fmla="*/ 779341 w 1642490"/>
              <a:gd name="connsiteY4" fmla="*/ 0 h 1633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2490" h="1633118">
                <a:moveTo>
                  <a:pt x="779341" y="0"/>
                </a:moveTo>
                <a:lnTo>
                  <a:pt x="1642490" y="226812"/>
                </a:lnTo>
                <a:lnTo>
                  <a:pt x="1642490" y="1633118"/>
                </a:lnTo>
                <a:lnTo>
                  <a:pt x="0" y="1201518"/>
                </a:lnTo>
                <a:lnTo>
                  <a:pt x="779341" y="0"/>
                </a:lnTo>
                <a:close/>
              </a:path>
            </a:pathLst>
          </a:custGeom>
          <a:gradFill flip="none" rotWithShape="1">
            <a:gsLst>
              <a:gs pos="0">
                <a:srgbClr val="17D594">
                  <a:lumMod val="60000"/>
                  <a:lumOff val="40000"/>
                </a:srgbClr>
              </a:gs>
              <a:gs pos="85000">
                <a:srgbClr val="17D594"/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15"/>
            </p:custDataLst>
          </p:nvPr>
        </p:nvSpPr>
        <p:spPr>
          <a:xfrm>
            <a:off x="4704716" y="3607118"/>
            <a:ext cx="2028825" cy="7175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17D594"/>
                </a:solidFill>
                <a:latin typeface="微软雅黑" panose="020B0503020204020204" charset="-122"/>
                <a:cs typeface="微软雅黑" panose="020B0503020204020204" charset="-122"/>
              </a:rPr>
              <a:t>simulator</a:t>
            </a:r>
            <a:endParaRPr lang="en-US" altLang="zh-CN" sz="2400" b="1">
              <a:solidFill>
                <a:srgbClr val="17D594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>
            <p:custDataLst>
              <p:tags r:id="rId16"/>
            </p:custDataLst>
          </p:nvPr>
        </p:nvSpPr>
        <p:spPr>
          <a:xfrm>
            <a:off x="7018021" y="3600133"/>
            <a:ext cx="3425587" cy="717358"/>
          </a:xfrm>
          <a:prstGeom prst="rect">
            <a:avLst/>
          </a:prstGeom>
          <a:noFill/>
        </p:spPr>
        <p:txBody>
          <a:bodyPr wrap="square" lIns="0" tIns="0" rIns="0" bIns="36195" rtlCol="0" anchor="ctr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ln>
                  <a:noFill/>
                  <a:prstDash val="sysDot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output states</a:t>
            </a:r>
            <a:endParaRPr lang="en-US" altLang="zh-CN" sz="2000" b="1" dirty="0">
              <a:ln>
                <a:noFill/>
                <a:prstDash val="sysDot"/>
              </a:ln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>
            <p:custDataLst>
              <p:tags r:id="rId17"/>
            </p:custDataLst>
          </p:nvPr>
        </p:nvSpPr>
        <p:spPr>
          <a:xfrm>
            <a:off x="3704591" y="2285048"/>
            <a:ext cx="2028825" cy="7175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376FFF"/>
                </a:solidFill>
                <a:latin typeface="微软雅黑" panose="020B0503020204020204" charset="-122"/>
                <a:cs typeface="微软雅黑" panose="020B0503020204020204" charset="-122"/>
              </a:rPr>
              <a:t>renderer</a:t>
            </a:r>
            <a:endParaRPr lang="en-US" altLang="zh-CN" sz="2400" b="1" dirty="0">
              <a:solidFill>
                <a:srgbClr val="376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18"/>
            </p:custDataLst>
          </p:nvPr>
        </p:nvSpPr>
        <p:spPr>
          <a:xfrm>
            <a:off x="6017896" y="2278063"/>
            <a:ext cx="3425587" cy="717358"/>
          </a:xfrm>
          <a:prstGeom prst="rect">
            <a:avLst/>
          </a:prstGeom>
          <a:noFill/>
        </p:spPr>
        <p:txBody>
          <a:bodyPr wrap="square" lIns="0" tIns="0" rIns="0" bIns="36195" rtlCol="0" anchor="ctr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n>
                  <a:noFill/>
                  <a:prstDash val="sysDot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output observations</a:t>
            </a:r>
            <a:endParaRPr lang="en-US" altLang="zh-CN" sz="2000" b="1">
              <a:ln>
                <a:noFill/>
                <a:prstDash val="sysDot"/>
              </a:ln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右大括号 20"/>
          <p:cNvSpPr/>
          <p:nvPr/>
        </p:nvSpPr>
        <p:spPr>
          <a:xfrm>
            <a:off x="9168765" y="2088515"/>
            <a:ext cx="1809750" cy="3695700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1222355" y="3607435"/>
            <a:ext cx="12084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b="1"/>
              <a:t>mix</a:t>
            </a:r>
            <a:endParaRPr lang="en-US" altLang="zh-CN" sz="4000" b="1"/>
          </a:p>
        </p:txBody>
      </p:sp>
      <p:sp>
        <p:nvSpPr>
          <p:cNvPr id="27" name="文本框 26"/>
          <p:cNvSpPr txBox="1"/>
          <p:nvPr/>
        </p:nvSpPr>
        <p:spPr>
          <a:xfrm>
            <a:off x="414655" y="64281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https://x.com/drfeifei/status/2062247238143996275</a:t>
            </a:r>
            <a:endParaRPr lang="zh-CN" altLang="en-US"/>
          </a:p>
        </p:txBody>
      </p:sp>
    </p:spTree>
    <p:custDataLst>
      <p:tags r:id="rId1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Renderer</a:t>
            </a:r>
            <a:endParaRPr lang="en-US" altLang="zh-CN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zh-CN" sz="2000"/>
              <a:t>Sora(2024.2)——Genie1(2024.2)——Hunyuan World(2025.7)——Marble(2025.11)</a:t>
            </a:r>
            <a:endParaRPr lang="en-US" altLang="zh-CN" sz="2000"/>
          </a:p>
          <a:p>
            <a:r>
              <a:rPr lang="en-US" altLang="zh-CN" sz="2000"/>
              <a:t>feature: 2D to 3D, vivid, </a:t>
            </a:r>
            <a:r>
              <a:rPr lang="en-US" altLang="zh-CN" sz="2000">
                <a:sym typeface="+mn-ea"/>
              </a:rPr>
              <a:t>interactive</a:t>
            </a:r>
            <a:endParaRPr lang="en-US" altLang="zh-CN" sz="2000"/>
          </a:p>
          <a:p>
            <a:r>
              <a:rPr lang="en-US" altLang="zh-CN" sz="2000"/>
              <a:t>tech: </a:t>
            </a:r>
            <a:endParaRPr lang="en-US" altLang="zh-CN" sz="2000"/>
          </a:p>
          <a:p>
            <a:pPr lvl="1"/>
            <a:r>
              <a:rPr lang="en-US" altLang="zh-CN" sz="2000">
                <a:sym typeface="+mn-ea"/>
              </a:rPr>
              <a:t>Vision: Diffusion Model, Diffusion Transformer</a:t>
            </a:r>
            <a:endParaRPr lang="en-US" altLang="zh-CN" sz="2000"/>
          </a:p>
          <a:p>
            <a:pPr lvl="1"/>
            <a:r>
              <a:rPr lang="en-US" altLang="zh-CN" sz="2000">
                <a:sym typeface="+mn-ea"/>
              </a:rPr>
              <a:t>3D Spatial: 3D Gaussian splatting, 3D-RoPE</a:t>
            </a:r>
            <a:endParaRPr lang="en-US" altLang="zh-CN" sz="2000"/>
          </a:p>
          <a:p>
            <a:pPr lvl="1"/>
            <a:r>
              <a:rPr lang="en-US" altLang="zh-CN" sz="2000">
                <a:sym typeface="+mn-ea"/>
              </a:rPr>
              <a:t>Multimodel: Emu3, Transfusion</a:t>
            </a:r>
            <a:endParaRPr lang="en-US" altLang="zh-CN" sz="2000"/>
          </a:p>
          <a:p>
            <a:pPr lvl="1"/>
            <a:r>
              <a:rPr lang="en-US" altLang="zh-CN" sz="2000">
                <a:sym typeface="+mn-ea"/>
              </a:rPr>
              <a:t>Compution: Mamba, RingAttention</a:t>
            </a:r>
            <a:endParaRPr lang="en-US" altLang="zh-CN" sz="2000">
              <a:sym typeface="+mn-ea"/>
            </a:endParaRPr>
          </a:p>
          <a:p>
            <a:pPr marL="457200" lvl="1" indent="0">
              <a:buNone/>
            </a:pPr>
            <a:endParaRPr lang="en-US" altLang="zh-CN" sz="2000"/>
          </a:p>
          <a:p>
            <a:r>
              <a:rPr lang="en-US" altLang="zh-CN" sz="2000"/>
              <a:t>drawback: lack physical accuracy, high compute overhead, data scarcity</a:t>
            </a:r>
            <a:endParaRPr lang="en-US" altLang="zh-CN" sz="2000"/>
          </a:p>
          <a:p>
            <a:pPr marL="457200" lvl="1" indent="0">
              <a:buNone/>
            </a:pPr>
            <a:endParaRPr lang="en-US" altLang="zh-CN" sz="1775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Simulator </a:t>
            </a:r>
            <a:r>
              <a:rPr lang="en-US" altLang="zh-CN">
                <a:solidFill>
                  <a:srgbClr val="FF0000"/>
                </a:solidFill>
              </a:rPr>
              <a:t>(linchpin)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sz="2000"/>
              <a:t>JEPA Series: I-JEPA, V-JEPA, A-JEPA, LLM-JEPA…</a:t>
            </a:r>
            <a:endParaRPr lang="en-US" altLang="zh-CN" sz="2000"/>
          </a:p>
          <a:p>
            <a:r>
              <a:rPr lang="en-US" altLang="zh-CN" sz="2000"/>
              <a:t>learn and predict in latent space instead of pixel space</a:t>
            </a:r>
            <a:endParaRPr lang="en-US" altLang="zh-CN" sz="2000"/>
          </a:p>
          <a:p>
            <a:r>
              <a:rPr lang="en-US" altLang="zh-CN" sz="2000"/>
              <a:t>Cosmos, Marble, Genesis…</a:t>
            </a:r>
            <a:endParaRPr lang="en-US" altLang="zh-CN" sz="2000"/>
          </a:p>
          <a:p>
            <a:r>
              <a:rPr lang="en-US" altLang="zh-CN" sz="2000"/>
              <a:t>drawback: </a:t>
            </a:r>
            <a:r>
              <a:rPr lang="en-US" altLang="zh-CN" sz="2000">
                <a:sym typeface="+mn-ea"/>
              </a:rPr>
              <a:t> sim-to-real, </a:t>
            </a:r>
            <a:r>
              <a:rPr lang="en-US" altLang="zh-CN" sz="2000"/>
              <a:t>discontinuous physics,</a:t>
            </a:r>
            <a:endParaRPr lang="en-US" altLang="zh-CN" sz="2000"/>
          </a:p>
          <a:p>
            <a:pPr marL="914400" lvl="2" indent="457200">
              <a:buNone/>
            </a:pPr>
            <a:r>
              <a:rPr lang="en-US" altLang="zh-CN" sz="2000"/>
              <a:t>   error accumulation, inference latency </a:t>
            </a:r>
            <a:endParaRPr lang="en-US" altLang="zh-CN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10613" t="12483" r="55813"/>
          <a:stretch>
            <a:fillRect/>
          </a:stretch>
        </p:blipFill>
        <p:spPr>
          <a:xfrm>
            <a:off x="8568055" y="1313815"/>
            <a:ext cx="3009265" cy="37261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568055" y="51015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arXiv:2506.09985 [cs.AI]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Planner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sz="2000"/>
              <a:t>Dreamer Series: plan in the dream</a:t>
            </a:r>
            <a:endParaRPr lang="en-US" altLang="zh-CN" sz="2000"/>
          </a:p>
          <a:p>
            <a:r>
              <a:rPr lang="en-US" altLang="zh-CN" sz="2000"/>
              <a:t>Embodied intelligence</a:t>
            </a:r>
            <a:endParaRPr lang="en-US" altLang="zh-CN" sz="2000"/>
          </a:p>
          <a:p>
            <a:r>
              <a:rPr lang="en-US" altLang="zh-CN" sz="2000"/>
              <a:t>tech: diffusion policy, unified VLA tokenization</a:t>
            </a:r>
            <a:endParaRPr lang="en-US" altLang="zh-CN" sz="2000"/>
          </a:p>
          <a:p>
            <a:pPr marL="0" lvl="2"/>
            <a:r>
              <a:rPr lang="en-US" altLang="zh-CN" sz="2000"/>
              <a:t>drawback: long-step planning, </a:t>
            </a:r>
            <a:r>
              <a:rPr lang="en-US" altLang="zh-CN" sz="2000">
                <a:sym typeface="+mn-ea"/>
              </a:rPr>
              <a:t>inference latency, lack </a:t>
            </a:r>
            <a:r>
              <a:rPr lang="en-US" altLang="zh-CN" sz="2000">
                <a:sym typeface="+mn-ea"/>
              </a:rPr>
              <a:t>precision</a:t>
            </a:r>
            <a:endParaRPr lang="en-US" altLang="zh-CN" sz="2000">
              <a:sym typeface="+mn-ea"/>
            </a:endParaRPr>
          </a:p>
          <a:p>
            <a:pPr marL="0" lvl="2" indent="0">
              <a:buNone/>
            </a:pPr>
            <a:endParaRPr lang="en-US" altLang="zh-CN" sz="20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" y="3433445"/>
            <a:ext cx="6591300" cy="2895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71550" y="6293485"/>
            <a:ext cx="3152775" cy="41592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1600" b="1" i="0">
                <a:solidFill>
                  <a:srgbClr val="000000"/>
                </a:solidFill>
                <a:latin typeface="Lucida Grande"/>
                <a:ea typeface="Lucida Grande"/>
              </a:rPr>
              <a:t>arXiv:2301.04104 [cs.AI]</a:t>
            </a:r>
            <a:endParaRPr lang="en-US" altLang="zh-CN" sz="1600" b="1" i="0">
              <a:solidFill>
                <a:srgbClr val="000000"/>
              </a:solidFill>
              <a:latin typeface="Lucida Grande"/>
              <a:ea typeface="Lucida Grande"/>
            </a:endParaRPr>
          </a:p>
          <a:p>
            <a:pPr marL="0" indent="0"/>
            <a:endParaRPr lang="en-US" altLang="zh-CN" sz="1600" b="1" i="0">
              <a:solidFill>
                <a:srgbClr val="000000"/>
              </a:solidFill>
              <a:latin typeface="Lucida Grande"/>
              <a:ea typeface="Lucida Grande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Application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sz="2000"/>
              <a:t>Game Intelligence</a:t>
            </a:r>
            <a:endParaRPr lang="en-US" altLang="zh-CN" sz="2000"/>
          </a:p>
          <a:p>
            <a:r>
              <a:rPr lang="en-US" altLang="zh-CN" sz="2000"/>
              <a:t>Embodied Intelligence</a:t>
            </a:r>
            <a:endParaRPr lang="en-US" altLang="zh-CN" sz="2000"/>
          </a:p>
          <a:p>
            <a:r>
              <a:rPr lang="en-US" altLang="zh-CN" sz="2000"/>
              <a:t>Autonomous Driving</a:t>
            </a:r>
            <a:endParaRPr lang="en-US" altLang="zh-CN" sz="2000"/>
          </a:p>
          <a:p>
            <a:r>
              <a:rPr lang="en-US" altLang="zh-CN" sz="2000"/>
              <a:t>Societal Intelligence</a:t>
            </a:r>
            <a:endParaRPr lang="en-US" altLang="zh-CN" sz="2000"/>
          </a:p>
          <a:p>
            <a:endParaRPr lang="en-US" altLang="zh-CN" sz="2000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Key problems &amp; Future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sz="2000"/>
              <a:t>data scarcity —— systhesize &amp; train</a:t>
            </a:r>
            <a:endParaRPr lang="en-US" altLang="zh-CN" sz="2000"/>
          </a:p>
          <a:p>
            <a:r>
              <a:rPr lang="en-US" altLang="zh-CN" sz="2000"/>
              <a:t>computational bottleneck —— latent space(JEPA), hierarchical, compression</a:t>
            </a:r>
            <a:endParaRPr lang="en-US" altLang="zh-CN" sz="200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Appendix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24180" y="1490345"/>
            <a:ext cx="11768455" cy="4041140"/>
          </a:xfrm>
        </p:spPr>
        <p:txBody>
          <a:bodyPr>
            <a:noAutofit/>
          </a:bodyPr>
          <a:p>
            <a:r>
              <a:rPr lang="en-US" altLang="zh-CN" sz="1400"/>
              <a:t>“Self-Supervised Learning from Images with a Joint-Embedding Predictive Architecture”, arXiv:2301.08243 [cs.CV]</a:t>
            </a:r>
            <a:endParaRPr lang="en-US" altLang="zh-CN" sz="1400"/>
          </a:p>
          <a:p>
            <a:r>
              <a:rPr lang="en-US" altLang="zh-CN" sz="1400"/>
              <a:t>“V-JEPA 2: Self-Supervised Video Models Enable Understanding, Prediction and Planning”, arXiv:2506.09985 [cs.AI]</a:t>
            </a:r>
            <a:endParaRPr lang="en-US" altLang="zh-CN" sz="1400"/>
          </a:p>
          <a:p>
            <a:r>
              <a:rPr lang="en-US" altLang="zh-CN" sz="1400"/>
              <a:t>“Mastering Diverse Domains through World Models”, arXiv:2301.04104 [cs.AI]</a:t>
            </a:r>
            <a:endParaRPr lang="en-US" altLang="zh-CN" sz="1400"/>
          </a:p>
          <a:p>
            <a:r>
              <a:rPr lang="en-US" altLang="zh-CN" sz="1400"/>
              <a:t>“Genie: Generative Interactive Environments”, arXiv:2402.15391 [cs.LG]</a:t>
            </a:r>
            <a:endParaRPr lang="en-US" altLang="zh-CN" sz="1400"/>
          </a:p>
          <a:p>
            <a:r>
              <a:rPr lang="en-US" altLang="zh-CN" sz="1400"/>
              <a:t>“World Models”, arXiv:1803.10122 [cs.LG]</a:t>
            </a:r>
            <a:endParaRPr lang="en-US" altLang="zh-CN" sz="1400"/>
          </a:p>
          <a:p>
            <a:r>
              <a:rPr lang="en-US" altLang="zh-CN" sz="1400"/>
              <a:t>“Understanding World or Predicting Future? A Comprehensive Survey of World Models”, arXiv:2411.14499 [cs.CL]</a:t>
            </a:r>
            <a:endParaRPr lang="en-US" altLang="zh-CN" sz="1400"/>
          </a:p>
          <a:p>
            <a:r>
              <a:rPr lang="en-US" altLang="zh-CN" sz="1400"/>
              <a:t>“Scalable Diffusion Models with Transformers”, arXiv:2212.09748 [cs.CV]</a:t>
            </a:r>
            <a:endParaRPr lang="en-US" altLang="zh-CN" sz="1400"/>
          </a:p>
          <a:p>
            <a:r>
              <a:rPr lang="en-US" altLang="zh-CN" sz="1400"/>
              <a:t>“Dynamic 3D Gaussian Tracking for Graph-Based Neural Dynamics Modeling”, arXiv:2410.18912 [cs.RO]</a:t>
            </a:r>
            <a:endParaRPr lang="en-US" altLang="zh-CN" sz="1400"/>
          </a:p>
          <a:p>
            <a:r>
              <a:rPr lang="en-US" altLang="zh-CN" sz="1400"/>
              <a:t>“A Functional Taxonomy of World Models”, </a:t>
            </a:r>
            <a:r>
              <a:rPr lang="en-US" altLang="zh-CN" sz="1400">
                <a:hlinkClick r:id="rId3" action="ppaction://hlinkfile"/>
              </a:rPr>
              <a:t>https://x.com/drfeifei/status/2062247238143996275</a:t>
            </a:r>
            <a:endParaRPr lang="en-US" altLang="zh-CN" sz="1400"/>
          </a:p>
          <a:p>
            <a:r>
              <a:rPr lang="en-US" altLang="zh-CN" sz="1400"/>
              <a:t>“The Model That Dreams the World”, </a:t>
            </a:r>
            <a:r>
              <a:rPr lang="en-US" altLang="zh-CN" sz="1400">
                <a:hlinkClick r:id="rId4" action="ppaction://hlinkfile"/>
              </a:rPr>
              <a:t>https://moe-capital.com/blog-home/the-model-that-dreams-the-world</a:t>
            </a:r>
            <a:endParaRPr lang="en-US" altLang="zh-CN" sz="1400"/>
          </a:p>
          <a:p>
            <a:pPr marL="0" indent="0">
              <a:buNone/>
            </a:pPr>
            <a:endParaRPr lang="en-US" altLang="zh-CN" sz="1400"/>
          </a:p>
          <a:p>
            <a:endParaRPr lang="en-US" altLang="zh-CN" sz="1400"/>
          </a:p>
        </p:txBody>
      </p: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时间匆忙，请批评</a:t>
            </a:r>
            <a:r>
              <a:rPr lang="zh-CN" altLang="en-US"/>
              <a:t>指正！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2"/>
  <p:tag name="KSO_WM_UNIT_ID" val="diagram20231104_1*o_h_i*1_2_2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]}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2"/>
  <p:tag name="KSO_WM_UNIT_ID" val="diagram20231104_1*o_h_i*1_1_2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]}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2"/>
  <p:tag name="KSO_WM_UNIT_ID" val="diagram20231104_1*o_h_i*1_3_2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DIAGRAM_USE_COLOR_VALUE" val="{&quot;color_scheme&quot;:1,&quot;color_type&quot;:1,&quot;theme_color_indexes&quot;:[]}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3_1"/>
  <p:tag name="KSO_WM_UNIT_ID" val="diagram20231104_1*o_h_a*1_3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o_h_f"/>
  <p:tag name="KSO_WM_UNIT_INDEX" val="1_3_1"/>
  <p:tag name="KSO_WM_UNIT_ID" val="diagram20231104_1*o_h_f*1_3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4_1*o_h_i*1_2_4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o1-1"/>
  <p:tag name="KSO_WM_UNIT_TYPE" val="o_h_i"/>
  <p:tag name="KSO_WM_UNIT_INDEX" val="1_2_4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solid&quot;:{&quot;brightness&quot;:-0.25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-0.25"/>
  <p:tag name="KSO_WM_DIAGRAM_USE_COLOR_VALUE" val="{&quot;color_scheme&quot;:1,&quot;color_type&quot;:1,&quot;theme_color_indexes&quot;:[]}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4_1*o_h_i*1_3_4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o1-1"/>
  <p:tag name="KSO_WM_UNIT_TYPE" val="o_h_i"/>
  <p:tag name="KSO_WM_UNIT_INDEX" val="1_3_4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solid&quot;:{&quot;brightness&quot;:-0.25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-0.25"/>
  <p:tag name="KSO_WM_DIAGRAM_USE_COLOR_VALUE" val="{&quot;color_scheme&quot;:1,&quot;color_type&quot;:1,&quot;theme_color_indexes&quot;:[]}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1"/>
  <p:tag name="KSO_WM_UNIT_ID" val="diagram20231104_1*o_h_i*1_1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1"/>
  <p:tag name="KSO_WM_UNIT_ID" val="diagram20231104_1*o_h_i*1_3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gradient&quot;:[{&quot;brightness&quot;:0.4000000059604645,&quot;colorType&quot;:1,&quot;foreColorIndex&quot;:7,&quot;pos&quot;:0,&quot;transparency&quot;:0},{&quot;brightness&quot;:0,&quot;colorType&quot;:1,&quot;foreColorIndex&quot;:7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1"/>
  <p:tag name="KSO_WM_UNIT_ID" val="diagram20231104_1*o_h_i*1_2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gradient&quot;:[{&quot;brightness&quot;:0.4000000059604645,&quot;colorType&quot;:1,&quot;foreColorIndex&quot;:6,&quot;pos&quot;:0,&quot;transparency&quot;:0},{&quot;brightness&quot;:0,&quot;colorType&quot;:1,&quot;foreColorIndex&quot;:6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3"/>
  <p:tag name="KSO_WM_UNIT_ID" val="diagram20231104_1*o_h_i*1_1_3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3"/>
  <p:tag name="KSO_WM_UNIT_ID" val="diagram20231104_1*o_h_i*1_3_3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gradient&quot;:[{&quot;brightness&quot;:0.4000000059604645,&quot;colorType&quot;:1,&quot;foreColorIndex&quot;:7,&quot;pos&quot;:0,&quot;transparency&quot;:0},{&quot;brightness&quot;:0,&quot;colorType&quot;:1,&quot;foreColorIndex&quot;:7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3"/>
  <p:tag name="KSO_WM_UNIT_ID" val="diagram20231104_1*o_h_i*1_2_3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gradient&quot;:[{&quot;brightness&quot;:0.4000000059604645,&quot;colorType&quot;:1,&quot;foreColorIndex&quot;:6,&quot;pos&quot;:0,&quot;transparency&quot;:0},{&quot;brightness&quot;:0,&quot;colorType&quot;:1,&quot;foreColorIndex&quot;:6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2_1"/>
  <p:tag name="KSO_WM_UNIT_ID" val="diagram20231104_1*o_h_a*1_2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o_h_f"/>
  <p:tag name="KSO_WM_UNIT_INDEX" val="1_2_1"/>
  <p:tag name="KSO_WM_UNIT_ID" val="diagram20231104_1*o_h_f*1_2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o_h_a"/>
  <p:tag name="KSO_WM_UNIT_INDEX" val="1_1_1"/>
  <p:tag name="KSO_WM_UNIT_ID" val="diagram20231104_1*o_h_a*1_1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8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o_h_f"/>
  <p:tag name="KSO_WM_UNIT_INDEX" val="1_1_1"/>
  <p:tag name="KSO_WM_UNIT_ID" val="diagram20231104_1*o_h_f*1_1_1"/>
  <p:tag name="KSO_WM_TEMPLATE_CATEGORY" val="diagram"/>
  <p:tag name="KSO_WM_TEMPLATE_INDEX" val="20231104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3"/>
  <p:tag name="KSO_WM_DIAGRAM_VIRTUALLY_FRAME" val="{&quot;height&quot;:362.9495544433594,&quot;left&quot;:13.900078740157493,&quot;top&quot;:147.17522277832032,&quot;width&quot;:889.340979609451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14558]}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resource_record_key" val="{&quot;65&quot;:[20205081],&quot;70&quot;:[3314558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2195</Words>
  <Application>WPS 演示</Application>
  <PresentationFormat>宽屏</PresentationFormat>
  <Paragraphs>98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微软雅黑</vt:lpstr>
      <vt:lpstr>Lucida Grande</vt:lpstr>
      <vt:lpstr>Arial Unicode MS</vt:lpstr>
      <vt:lpstr>Calibri</vt:lpstr>
      <vt:lpstr>KSOF1D8C3B04</vt:lpstr>
      <vt:lpstr>Segoe Print</vt:lpstr>
      <vt:lpstr>Lucida Grande</vt:lpstr>
      <vt:lpstr>KSOF1D8BC6A5</vt:lpstr>
      <vt:lpstr>WPS</vt:lpstr>
      <vt:lpstr>世界模型调研总结</vt:lpstr>
      <vt:lpstr>Structure</vt:lpstr>
      <vt:lpstr>Roadmap</vt:lpstr>
      <vt:lpstr>Li Feifei’s Taxonomy</vt:lpstr>
      <vt:lpstr>Renderer</vt:lpstr>
      <vt:lpstr>Simulator (linchpin)</vt:lpstr>
      <vt:lpstr>Planner</vt:lpstr>
      <vt:lpstr>Application</vt:lpstr>
      <vt:lpstr>Key problems &amp; Future</vt:lpstr>
      <vt:lpstr>Appendix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王关栋</cp:lastModifiedBy>
  <cp:revision>160</cp:revision>
  <dcterms:created xsi:type="dcterms:W3CDTF">2019-06-19T02:08:00Z</dcterms:created>
  <dcterms:modified xsi:type="dcterms:W3CDTF">2026-08-09T07:56:32Z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27E0908AE0B44018A9D06D7C095C5922_11</vt:lpwstr>
  </property>
</Properties>
</file>